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85c7b017-8fa5-f0ea-74c6-70acdaf3c89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Modules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F6F6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8963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A3B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4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4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4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Core Legal Services</c:v>
                </c:pt>
                <c:pt idx="1">
                  <c:v>Advanced AI Features</c:v>
                </c:pt>
                <c:pt idx="2">
                  <c:v>Scam &amp; Fraud Detection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200" b="0" i="0" u="none" strike="noStrike" kern="1200" baseline="0">
              <a:solidFill>
                <a:srgbClr val="1B1F1E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e9f4826-3088-413b-8028-daded96b32f6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400" b="0" i="0" u="none" strike="noStrike" kern="1200" baseline="0">
                <a:solidFill>
                  <a:srgbClr val="1B1F1E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B1F1E"/>
                </a:solidFill>
                <a:latin typeface="+mn-lt"/>
              </a:rPr>
              <a:t>Backend tests passed per increment</a:t>
            </a:r>
            <a:endParaRPr sz="1400" b="0" i="0" u="none" strike="noStrike">
              <a:solidFill>
                <a:srgbClr val="1B1F1E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1F6F6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1B1F1E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Inc 1</c:v>
                </c:pt>
                <c:pt idx="1">
                  <c:v>Inc 2</c:v>
                </c:pt>
                <c:pt idx="2">
                  <c:v>Inc 3</c:v>
                </c:pt>
                <c:pt idx="3">
                  <c:v>Inc 4</c:v>
                </c:pt>
                <c:pt idx="4">
                  <c:v>Inc 5</c:v>
                </c:pt>
                <c:pt idx="5">
                  <c:v>Inc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26</c:v>
                </c:pt>
                <c:pt idx="2">
                  <c:v>7</c:v>
                </c:pt>
                <c:pt idx="3">
                  <c:v>17</c:v>
                </c:pt>
                <c:pt idx="4">
                  <c:v>13</c:v>
                </c:pt>
                <c:pt idx="5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1B1F1E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DE3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1B1F1E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068d1f6-c659-40cb-a937-56f7f502a8c1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NyayaMitra is a web-based legal-tech workspace that puts common legal first steps in one signed-in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for the talk: problem, solution, features, users, design and build, then honest limits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Legal help in India is uneven. The information exists but is scattered, so people juggle many unrelated tools for a single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old way with NyayaMitra: one dashboard, redline output, fraud checks, regional languages and saved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 modules in three groups: 19 core legal services, 11 advanced AI features and 7 scam and fraud detection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flagship workflows have dedicated pages: chatbot, document analyzer, drafting, contract review, research and fraud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contract suite covers review with a risk score, bulk review of 2 to 20 files, annotated redline DOCX, and 12 templates with translation.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SmartModule engine lets one registry entry plus a shared form power 21 modules, which keeps the code small and maintainable.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Add-ons that make it practical: file upload, a voice-style assistant, multilingual templates and mock court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checks, the CNR tracker with an official deep link, and a lawyer directory with consultation requests. CNR stage is labelled AI-inferred.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account type serves citizens, lawyers and students; the difference is which workflows each person chooses.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17 use cases span access, legal help, fraud, court and counsel, templates and the module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request is authenticated, validated by the backend, processed by the AI and document libraries, then shown, saved and made downloadable.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frontend, FastAPI backend, Gemini and document libraries, MongoDB. The browser never calls the model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mainstream and mostly open source, so each layer can be replaced or scaled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collections hold the state. User records carry an owner id; only shared templates are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followed the spiral model: plan and risk, refine requirements and design, then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suites passed at each of six increments with no failures, alongside end-to-end and authorisation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state limits openly: no roles yet, CNR stage can be AI-inferred, research is LLM-assisted, and AI output needs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role-based access, authoritative legal retrieval, official court data, voice input, mobile apps and payments. Thank you,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1097280"/>
            <a:ext cx="530352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2148840"/>
            <a:ext cx="5029200" cy="1463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73"/>
                </a:solidFill>
              </a:rPr>
              <a:t>NyayaMitra · Legal-tech workspace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10972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NyayaMitra</a:t>
            </a:r>
            <a:endParaRPr lang="en-US" sz="5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214884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An AI-powered legal workspace: legal information, documents, contracts, fraud safety and court support in one place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35040" y="1097280"/>
            <a:ext cx="2651760" cy="2651760"/>
          </a:xfrm>
          <a:prstGeom prst="ellipse">
            <a:avLst/>
          </a:prstGeom>
          <a:solidFill>
            <a:srgbClr val="1D4A44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0" y="1325880"/>
            <a:ext cx="265176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</a:rPr>
              <a:t>37</a:t>
            </a:r>
            <a:endParaRPr lang="en-US" sz="80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modules, one workspace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505460" y="3841115"/>
            <a:ext cx="8046720" cy="869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Sahil Kharwar  · </a:t>
            </a:r>
            <a:r>
              <a:rPr lang="en-GB" altLang="en-US" sz="1400" dirty="0">
                <a:solidFill>
                  <a:schemeClr val="bg2"/>
                </a:solidFill>
              </a:rPr>
              <a:t>2505102120008 </a:t>
            </a:r>
            <a:r>
              <a:rPr lang="en-US" sz="1400" dirty="0">
                <a:solidFill>
                  <a:schemeClr val="bg2"/>
                </a:solidFill>
                <a:sym typeface="+mn-ea"/>
              </a:rPr>
              <a:t>·</a:t>
            </a:r>
            <a:r>
              <a:rPr lang="en-US" sz="1400" dirty="0">
                <a:solidFill>
                  <a:schemeClr val="bg2"/>
                </a:solidFill>
              </a:rPr>
              <a:t> M.Sc. IT (AI/ML), Parul University</a:t>
            </a:r>
            <a:endParaRPr lang="en-US" sz="14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sym typeface="+mn-ea"/>
              </a:rPr>
              <a:t>S</a:t>
            </a:r>
            <a:r>
              <a:rPr lang="en-GB" altLang="en-US" sz="1400" dirty="0">
                <a:solidFill>
                  <a:schemeClr val="bg2"/>
                </a:solidFill>
                <a:sym typeface="+mn-ea"/>
              </a:rPr>
              <a:t>iddharth Singh</a:t>
            </a:r>
            <a:r>
              <a:rPr lang="en-US" sz="1400" dirty="0">
                <a:solidFill>
                  <a:schemeClr val="bg2"/>
                </a:solidFill>
                <a:sym typeface="+mn-ea"/>
              </a:rPr>
              <a:t>  · </a:t>
            </a:r>
            <a:r>
              <a:rPr lang="en-GB" altLang="en-US" sz="1400" dirty="0">
                <a:solidFill>
                  <a:schemeClr val="bg2"/>
                </a:solidFill>
                <a:sym typeface="+mn-ea"/>
              </a:rPr>
              <a:t>2505102120018</a:t>
            </a:r>
            <a:r>
              <a:rPr lang="en-US" sz="1400" dirty="0">
                <a:solidFill>
                  <a:schemeClr val="bg2"/>
                </a:solidFill>
                <a:sym typeface="+mn-ea"/>
              </a:rPr>
              <a:t> ·</a:t>
            </a:r>
            <a:r>
              <a:rPr lang="en-GB" altLang="en-US" sz="1400" dirty="0">
                <a:solidFill>
                  <a:schemeClr val="bg2"/>
                </a:solidFill>
                <a:sym typeface="+mn-ea"/>
              </a:rPr>
              <a:t> </a:t>
            </a:r>
            <a:r>
              <a:rPr lang="en-US" sz="1400" dirty="0">
                <a:solidFill>
                  <a:schemeClr val="bg2"/>
                </a:solidFill>
                <a:sym typeface="+mn-ea"/>
              </a:rPr>
              <a:t>M.Sc. IT (AI/ML), Parul University</a:t>
            </a:r>
            <a:endParaRPr lang="en-US" sz="14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GB" altLang="en-US" sz="1400" dirty="0">
                <a:solidFill>
                  <a:schemeClr val="bg2"/>
                </a:solidFill>
                <a:sym typeface="+mn-ea"/>
              </a:rPr>
              <a:t>Thanush Shettigar</a:t>
            </a:r>
            <a:r>
              <a:rPr lang="en-US" sz="1400" dirty="0">
                <a:solidFill>
                  <a:schemeClr val="bg2"/>
                </a:solidFill>
                <a:sym typeface="+mn-ea"/>
              </a:rPr>
              <a:t>  ·  </a:t>
            </a:r>
            <a:r>
              <a:rPr lang="en-GB" altLang="en-US" sz="1400" dirty="0">
                <a:solidFill>
                  <a:schemeClr val="bg2"/>
                </a:solidFill>
                <a:sym typeface="+mn-ea"/>
              </a:rPr>
              <a:t>2404102120016 </a:t>
            </a:r>
            <a:r>
              <a:rPr lang="en-US" sz="1400" dirty="0">
                <a:solidFill>
                  <a:schemeClr val="bg2"/>
                </a:solidFill>
                <a:sym typeface="+mn-ea"/>
              </a:rPr>
              <a:t>·</a:t>
            </a:r>
            <a:r>
              <a:rPr lang="en-GB" altLang="en-US" sz="1400" dirty="0">
                <a:solidFill>
                  <a:schemeClr val="bg2"/>
                </a:solidFill>
                <a:sym typeface="+mn-ea"/>
              </a:rPr>
              <a:t> </a:t>
            </a:r>
            <a:r>
              <a:rPr lang="en-US" sz="1400" dirty="0">
                <a:solidFill>
                  <a:schemeClr val="bg2"/>
                </a:solidFill>
                <a:sym typeface="+mn-ea"/>
              </a:rPr>
              <a:t>M.Sc. IT (AI/ML), Parul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this presentation covers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224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224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184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 legal help feels fragmented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5224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224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25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6184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workspace, 37 modules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1975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197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1576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 workflows, contracts, safety, court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61975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6197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Users and use cases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71576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Who uses it and how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1703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7170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5204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 and build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81304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Architecture, data, spiral model, tests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42900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71703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7170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5204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Limits and roadmap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81304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is honest today, what comes next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Legal help is scattered across too many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2120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8531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8531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 search engines, portals, lawyers and word processors for a single legal task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52120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3570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3570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84832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Contracts and notices are slow to read and hard for non-lawyers to draft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52120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861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861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35224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Suspicious messages and URLs need yet another website or helpline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521208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649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364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85616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Court case numbers lead to CAPTCHA-gated portals, cut off from preparation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1234440"/>
            <a:ext cx="2743200" cy="3264408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1371600"/>
            <a:ext cx="237744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9</a:t>
            </a:r>
            <a:endParaRPr lang="en-US" sz="66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problem statements</a:t>
            </a:r>
            <a:endParaRPr lang="en-US" sz="6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Access, document understanding, drafting, fraud safety, research, court utilities, comparison, templates and regional language support</a:t>
            </a:r>
            <a:endParaRPr lang="en-US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 versus NyayaMitra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918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Existing way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NyayaMitra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Entry point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Separate search engines, portals, offices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One dashboard, 37 modules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Contract markup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Manual edits in a word processor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Downloadable annotated redline DOCX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Fraud checking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Separate websites or helplines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Message, email, URL checks and alerts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Language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Mostly English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Templates in five Indian languages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Records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Scattered files and browser history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User-scoped history in MongoDB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One workspace, 37 modules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39319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00600" y="128016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19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13716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Core Legal Services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623560" y="16459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Case, court, document, contract, research, RTI, IP and compliance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237744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11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2468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Advanced AI Features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7432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Drafting, bulk review, templates, mock court, lawyer marketplace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3474720"/>
            <a:ext cx="8229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35661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Scam &amp; Fraud Detection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3840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Message, email and URL checks, risk scoring, community alerts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Six flagship AI workflows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224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224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Legal Chatbot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184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Streams answers live over SSE; chat sessions are saved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5224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224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25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Document Analyzer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6184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Structured analysis of pasted text or PDF/DOCX/TXT upload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1975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197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Petition &amp; Notice Drafting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1576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Formal drafts from case type, parties, facts and relief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61975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6197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Contract Review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71576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Risk score, red flags, missing protections, recommendations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1703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7170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5204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Legal Research Engine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81304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AI-assisted research with authorities and case information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42900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71703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7170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5204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Scam &amp; Fraud Detection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81304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Message, email and URL risk checks with scan history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Contracts: review, compare, redline, draft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Contract Review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15544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score and red flags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protections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Suggested fixes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0116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Bulk Review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423160"/>
            <a:ext cx="15544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2–20 files at once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Concurrent review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league table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0116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Redline DOCX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23160"/>
            <a:ext cx="15544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Annotated DOCX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summary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Ready to negotiate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0116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Templates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423160"/>
            <a:ext cx="15544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 Indian templates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DOCX and public link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regional languages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SmartModules: add a module with one spec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320040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21</a:t>
            </a:r>
            <a:endParaRPr lang="en-US" sz="72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generic modules served by a single shared engine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383280" y="1234440"/>
            <a:ext cx="530352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5224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224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3258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registry entry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161848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module is an entry in the backend MODULE_SPECS registry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530352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61975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6197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423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shared form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71576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frontend renders inputs from the spec, no new page needed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3429000"/>
            <a:ext cx="530352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371703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37170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5204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run API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38130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Results are saved per user in module_runs and can be revisited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Practical add-on workflows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224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224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File upload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184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Extracts text from PDF, DOCX and TXT for analysis and 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5224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224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25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Voice assistant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6184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Spoken-style legal answers per language; text input today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1975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197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Multilingual templates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1576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Hindi, Tamil, Telugu, Bengali and Marathi, with caching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402336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61975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6197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Mock court and learning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71576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Practise argumentation and study topics in more than one language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Added after the original 35-module concept to make the platform practical for the documents people really have.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Safety, court support and lawyer access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Fraud &amp; Scam Detection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Message, email and URL checks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scoring and scan history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Community alerts and reports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CNR Court Tracker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2316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Validates and decodes CNR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Official e-Courts deep link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 and next steps marked AI-inferred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Lawyer Directory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42316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Filter, sort and view profiles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Send a consultation request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Connects preparation to real counsel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 for citizens, lawyers and students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6974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General User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Understand a document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 a notice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a scam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 a lawyer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26974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Lawyer / Professional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231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Faster research and review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Bulk review and redline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Drafting and client CRM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6974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Law Student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4231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 research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Mock court practice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Multilingual explanations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One account type and a shared dashboard: the same module serves a tenant and a lawyer equally well.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17 use cases across the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Access (UC-01, 02)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 and log in to receive a JWT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Legal help (UC-03 to 09)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373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Chatbot, analysis, drafting, review, bulk review, redline, research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Fraud (UC-10)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Scan a message, email or URL for scam risk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Court (UC-11, 12)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375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Decode a CNR; find a lawyer and request consultation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83464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Templates (UC-13 to 15)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3375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Generate, translate and share a contract template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Engines (UC-16, 17)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33756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 a SmartModule; mock court, voice and multilingual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a request flows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926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 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11887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Email login returns a signed JWT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5980" y="1280160"/>
            <a:ext cx="1554480" cy="2926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0886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0886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08860" y="20116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Pick a module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308860" y="2423160"/>
            <a:ext cx="11887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Choose from the 37-module dashboard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94760" y="1280160"/>
            <a:ext cx="1554480" cy="2926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7764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0116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423160"/>
            <a:ext cx="11887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checks token and input; keys stay private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3540" y="1280160"/>
            <a:ext cx="1554480" cy="2926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464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4642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46420" y="20116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Process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46420" y="2423160"/>
            <a:ext cx="11887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Gemini 3 Flash, pypdf and python-docx do the work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280160"/>
            <a:ext cx="1554480" cy="2926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0116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Return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423160"/>
            <a:ext cx="11887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Result is shown, saved and downloadable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 and responsible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React 19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Router 7, Tailwind, Axios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31720" y="1645920"/>
            <a:ext cx="21031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87752" y="12344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9192" y="123444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REST + SSE, JWT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62272" y="1645920"/>
            <a:ext cx="21031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8304" y="12344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9744" y="123444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AI + documents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Gemini 3 Flash, pypdf, python-docx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92824" y="1645920"/>
            <a:ext cx="21031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48856" y="12344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0296" y="123444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MongoDB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Motor async driver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97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JWT + bcrypt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0040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/app route and API call is protected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87752" y="260604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24912" y="2697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User-scoped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24912" y="320040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Histories visible only to their owner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18304" y="260604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5464" y="2697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Backend-only AI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5464" y="320040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browser never calls the LLM directly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48856" y="260604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86016" y="2697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Honest by design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320040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 output is labelled; not legal advice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Technology stack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1234440"/>
          <a:ext cx="8229600" cy="3127248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2004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React 19, Router 7, Tailwind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Interface and navigation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FastAPI, Pydantic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REST APIs and SSE streaming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MongoDB with Motor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Async persistence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PyJWT, bcrypt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Tokens and password hashing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AI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Gemini 3 Flash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Chat, analysis, drafting, review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1E"/>
                          </a:solidFill>
                        </a:rPr>
                        <a:t>Documents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pypdf, python-docx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1E"/>
                          </a:solidFill>
                        </a:rPr>
                        <a:t>Extract and generate files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model: 13 MongoDB collections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Identity, password hash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87752" y="1188720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97480" y="1188720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chat_messages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Chat sessions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18304" y="1188720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188720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analyses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Analyses,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48856" y="1188720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58584" y="1188720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drafts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Petitions, notices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993392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fraud_scans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Scan history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87752" y="1993392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1993392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community_alerts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Public alerts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18304" y="1993392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1993392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module_runs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Generic runs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48856" y="1993392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58584" y="1993392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contract_batches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Bulk results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798064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cnr_lookups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CNR records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87752" y="2798064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97480" y="2798064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lawyers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Seeded directory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18304" y="2798064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2798064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consult_requests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Consultations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48856" y="2798064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58584" y="2798064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template_generations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Generated templates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02736"/>
            <a:ext cx="192024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602736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template_shares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Public shares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87752" y="3712464"/>
            <a:ext cx="6099048" cy="694944"/>
          </a:xfrm>
          <a:prstGeom prst="roundRect">
            <a:avLst>
              <a:gd name="adj" fmla="val 1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0" y="3712464"/>
            <a:ext cx="58521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User-owned records carry the owner id; only template_shares is public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 in three spiral iterations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0175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 and risk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Stack and feasibility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Risks R1 to R7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flagships plus SmartModules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30175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Refine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23160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Uploads, CNR, lawyers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Bulk review, redline, templates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Risks R8 to R12, 37 modules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0175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423160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Template translation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Localisation fixes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Regression and security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Tested at every increment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371600"/>
            <a:ext cx="228600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</a:t>
            </a:r>
            <a:endParaRPr lang="en-US" sz="72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failures recorded</a:t>
            </a:r>
            <a:endParaRPr lang="en-US" sz="72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Auth, workflows, uploads, CNR, bulk review, templates and translation, plus E2E flows and ownership guards</a:t>
            </a:r>
            <a:endParaRPr lang="en-US" sz="7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Honest scope: what is in and what is not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JWT-protected 37-module dashboard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flagships and 21 SmartModules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Fraud scans and community feed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Uploads, CNR, lawyers, consultation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Bulk review, redline, templates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Not yet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Role-based access control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official court status (CNR stage may be AI-inferred)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Authoritative legal RAG database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Payments and e-signatures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output always needs verification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7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comes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D4A44"/>
          </a:solidFill>
          <a:ln w="12700">
            <a:solidFill>
              <a:srgbClr val="1D4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Access &amp; security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55448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Role-based access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Rate limiting, audit logs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87752" y="12801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D4A44"/>
          </a:solidFill>
          <a:ln w="12700">
            <a:solidFill>
              <a:srgbClr val="1D4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24912" y="13716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Legal content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24912" y="1874520"/>
            <a:ext cx="155448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Authoritative legal RAG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Official e-Courts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18304" y="12801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D4A44"/>
          </a:solidFill>
          <a:ln w="12700">
            <a:solidFill>
              <a:srgbClr val="1D4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5464" y="13716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55464" y="1874520"/>
            <a:ext cx="155448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Browser voice input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Mobile apps, phishing add-on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48856" y="12801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D4A44"/>
          </a:solidFill>
          <a:ln w="12700">
            <a:solidFill>
              <a:srgbClr val="1D4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86016" y="13716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Marketplace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1874520"/>
            <a:ext cx="155448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Verified lawyer onboarding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Payments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anose="02040503050406030204" charset="0"/>
                <a:ea typeface="Cambria" panose="02040503050406030204" pitchFamily="34" charset="-122"/>
                <a:cs typeface="Cambria" panose="02040503050406030204" pitchFamily="34" charset="-120"/>
              </a:rPr>
              <a:t>Thank you  · 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ayaMitra">
  <a:themeElements>
    <a:clrScheme name="NyayaMitra">
      <a:dk1>
        <a:srgbClr val="1B1F1E"/>
      </a:dk1>
      <a:lt1>
        <a:srgbClr val="FFFFFF"/>
      </a:lt1>
      <a:dk2>
        <a:srgbClr val="12332F"/>
      </a:dk2>
      <a:lt2>
        <a:srgbClr val="EEF2F1"/>
      </a:lt2>
      <a:accent1>
        <a:srgbClr val="C8963E"/>
      </a:accent1>
      <a:accent2>
        <a:srgbClr val="1F6F68"/>
      </a:accent2>
      <a:accent3>
        <a:srgbClr val="8A3B2E"/>
      </a:accent3>
      <a:accent4>
        <a:srgbClr val="5B7C99"/>
      </a:accent4>
      <a:accent5>
        <a:srgbClr val="6B8F71"/>
      </a:accent5>
      <a:accent6>
        <a:srgbClr val="B5543C"/>
      </a:accent6>
      <a:hlink>
        <a:srgbClr val="1F6F68"/>
      </a:hlink>
      <a:folHlink>
        <a:srgbClr val="5B7C99"/>
      </a:folHlink>
    </a:clrScheme>
    <a:fontScheme name="NyayaMit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yayaMitra">
  <a:themeElements>
    <a:clrScheme name="NyayaMitra">
      <a:dk1>
        <a:srgbClr val="1B1F1E"/>
      </a:dk1>
      <a:lt1>
        <a:srgbClr val="FFFFFF"/>
      </a:lt1>
      <a:dk2>
        <a:srgbClr val="12332F"/>
      </a:dk2>
      <a:lt2>
        <a:srgbClr val="EEF2F1"/>
      </a:lt2>
      <a:accent1>
        <a:srgbClr val="C8963E"/>
      </a:accent1>
      <a:accent2>
        <a:srgbClr val="1F6F68"/>
      </a:accent2>
      <a:accent3>
        <a:srgbClr val="8A3B2E"/>
      </a:accent3>
      <a:accent4>
        <a:srgbClr val="5B7C99"/>
      </a:accent4>
      <a:accent5>
        <a:srgbClr val="6B8F71"/>
      </a:accent5>
      <a:accent6>
        <a:srgbClr val="B5543C"/>
      </a:accent6>
      <a:hlink>
        <a:srgbClr val="1F6F68"/>
      </a:hlink>
      <a:folHlink>
        <a:srgbClr val="5B7C99"/>
      </a:folHlink>
    </a:clrScheme>
    <a:fontScheme name="NyayaMit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7149</Words>
  <Application>WPS Presentation</Application>
  <PresentationFormat>On-screen Show (16:9)</PresentationFormat>
  <Paragraphs>592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Cambria</vt:lpstr>
      <vt:lpstr>Calibri</vt:lpstr>
      <vt:lpstr>Microsoft YaHei</vt:lpstr>
      <vt:lpstr>Arial Unicode MS</vt:lpstr>
      <vt:lpstr>Cambria</vt:lpstr>
      <vt:lpstr>Cambria</vt:lpstr>
      <vt:lpstr>NyayaMitra</vt:lpstr>
      <vt:lpstr>NyayaMitra</vt:lpstr>
      <vt:lpstr>What this presentation covers</vt:lpstr>
      <vt:lpstr>Legal help is scattered across too many tools</vt:lpstr>
      <vt:lpstr>Today versus NyayaMitra</vt:lpstr>
      <vt:lpstr>One workspace, 37 modules</vt:lpstr>
      <vt:lpstr>Six flagship AI workflows</vt:lpstr>
      <vt:lpstr>Contracts: review, compare, redline, draft</vt:lpstr>
      <vt:lpstr>SmartModules: add a module with one spec</vt:lpstr>
      <vt:lpstr>Practical add-on workflows</vt:lpstr>
      <vt:lpstr>Safety, court support and lawyer access</vt:lpstr>
      <vt:lpstr>Built for citizens, lawyers and students</vt:lpstr>
      <vt:lpstr>17 use cases across the system</vt:lpstr>
      <vt:lpstr>How a request flows</vt:lpstr>
      <vt:lpstr>Architecture and responsible design</vt:lpstr>
      <vt:lpstr>Technology stack</vt:lpstr>
      <vt:lpstr>Data model: 13 MongoDB collections</vt:lpstr>
      <vt:lpstr>Built in three spiral iterations</vt:lpstr>
      <vt:lpstr>Tested at every increment</vt:lpstr>
      <vt:lpstr>Honest scope: what is in and what is not</vt:lpstr>
      <vt:lpstr>What comes next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NyayaMitra – Project Showcase</dc:title>
  <dc:creator>PptxGenJS</dc:creator>
  <dc:subject>PptxGenJS Presentation</dc:subject>
  <cp:lastModifiedBy>SIDDHARTH SINGH</cp:lastModifiedBy>
  <cp:revision>3</cp:revision>
  <dcterms:created xsi:type="dcterms:W3CDTF">2026-10-24T04:17:00Z</dcterms:created>
  <dcterms:modified xsi:type="dcterms:W3CDTF">2026-10-24T04:21:34Z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846354F26AA540CAB2246AE435BFF90C_12</vt:lpwstr>
  </property>
  <property fmtid="{D5CDD505-2E9C-101B-9397-08002B2CF9AE}" pid="3" name="KSOProductBuildVer">
    <vt:lpwstr>2057-12.2.0.23206</vt:lpwstr>
  </property>
</Properties>
</file>